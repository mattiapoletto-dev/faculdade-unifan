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7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6858000" cy="9144000"/>
  <p:embeddedFontLst>
    <p:embeddedFont>
      <p:font typeface="Comfortaa" panose="020B0604020202020204" charset="0"/>
      <p:regular r:id="rId21"/>
      <p:bold r:id="rId22"/>
    </p:embeddedFont>
    <p:embeddedFont>
      <p:font typeface="Lexend" panose="020B0604020202020204" charset="0"/>
      <p:regular r:id="rId23"/>
      <p:bold r:id="rId24"/>
    </p:embeddedFont>
    <p:embeddedFont>
      <p:font typeface="Merriweather" panose="020F0502020204030204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34b0c86ab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a34b0c86ab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34b0c86ab_2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a34b0c86ab_2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34b0c86ab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a34b0c86ab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34b0c86ab_2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a34b0c86ab_2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34b0c86ab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a34b0c86ab_2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34b0c86ab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a34b0c86ab_2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34b0c86ab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3a34b0c86ab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34b0c86ab_7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a34b0c86ab_7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34b0c86ab_7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a34b0c86ab_7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34b0c86ab_7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3a34b0c86ab_7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34b0c86ab_7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a34b0c86ab_7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34b0c86ab_7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a34b0c86ab_7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34b0c86ab_2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3a34b0c86ab_2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34b0c86ab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a34b0c86ab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34b0c86ab_2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a34b0c86ab_2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34b0c86ab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34b0c86ab_2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34b0c86ab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a34b0c86ab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4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TDE II - Linguagem de programação</a:t>
            </a:r>
            <a:endParaRPr sz="4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1"/>
          </p:nvPr>
        </p:nvSpPr>
        <p:spPr>
          <a:xfrm>
            <a:off x="7140900" y="4100025"/>
            <a:ext cx="16914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2252"/>
              <a:buNone/>
            </a:pPr>
            <a: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Kaique Mendes</a:t>
            </a:r>
            <a:endParaRPr sz="1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2252"/>
              <a:buNone/>
            </a:pPr>
            <a: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Matheus Marques</a:t>
            </a:r>
            <a:endParaRPr sz="1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2252"/>
              <a:buNone/>
            </a:pPr>
            <a: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Mattia Poletto</a:t>
            </a:r>
            <a:b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pt-BR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Gabriel Maier</a:t>
            </a:r>
            <a:endParaRPr sz="1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01" name="Google Shape;101;p25"/>
          <p:cNvPicPr preferRelativeResize="0"/>
          <p:nvPr/>
        </p:nvPicPr>
        <p:blipFill rotWithShape="1">
          <a:blip r:embed="rId3">
            <a:alphaModFix/>
          </a:blip>
          <a:srcRect l="8606" r="-2055" b="9966"/>
          <a:stretch/>
        </p:blipFill>
        <p:spPr>
          <a:xfrm>
            <a:off x="0" y="3276350"/>
            <a:ext cx="2795550" cy="18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CC0000"/>
          </a:solidFill>
          <a:ln w="9525" cap="flat" cmpd="sng">
            <a:solidFill>
              <a:srgbClr val="323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ctrTitle"/>
          </p:nvPr>
        </p:nvSpPr>
        <p:spPr>
          <a:xfrm>
            <a:off x="2822100" y="253175"/>
            <a:ext cx="3499800" cy="8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Desafio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539850" y="1786800"/>
            <a:ext cx="80643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0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Desenvolver um sistema em linguagem </a:t>
            </a:r>
            <a:r>
              <a:rPr lang="pt-BR" sz="1800" b="0" i="0" u="none" strike="noStrike" cap="none">
                <a:solidFill>
                  <a:srgbClr val="9FC5E8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pt-BR" sz="1800" b="0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que permita o cadastro e gerenciamento de pacientes, leitos e atendimentos, e com isso usar estruturas de repetição, arrays, criação de listas, manipulação de arquivos .json, sistema de usuário e senha, tudo rodando em C.</a:t>
            </a:r>
            <a:endParaRPr sz="1800" b="0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8695225" y="4705650"/>
            <a:ext cx="640500" cy="5808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6"/>
          <p:cNvSpPr/>
          <p:nvPr/>
        </p:nvSpPr>
        <p:spPr>
          <a:xfrm>
            <a:off x="8391925" y="-361400"/>
            <a:ext cx="1247100" cy="11706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-335600" y="4661350"/>
            <a:ext cx="875400" cy="7368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7855800" y="4586900"/>
            <a:ext cx="335100" cy="3348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8391925" y="3931600"/>
            <a:ext cx="498600" cy="4617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>
            <a:spLocks noGrp="1"/>
          </p:cNvSpPr>
          <p:nvPr>
            <p:ph type="ctrTitle"/>
          </p:nvPr>
        </p:nvSpPr>
        <p:spPr>
          <a:xfrm>
            <a:off x="2859300" y="104250"/>
            <a:ext cx="34254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Pontos Chave: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27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7"/>
          <p:cNvSpPr txBox="1">
            <a:spLocks noGrp="1"/>
          </p:cNvSpPr>
          <p:nvPr>
            <p:ph type="ctrTitle"/>
          </p:nvPr>
        </p:nvSpPr>
        <p:spPr>
          <a:xfrm>
            <a:off x="5000250" y="1678825"/>
            <a:ext cx="3660000" cy="9879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74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Inclusão de bibliotecas necessárias para o funcionamento do código.</a:t>
            </a:r>
            <a:endParaRPr sz="174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6559" y="1498485"/>
            <a:ext cx="2670291" cy="263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ctrTitle"/>
          </p:nvPr>
        </p:nvSpPr>
        <p:spPr>
          <a:xfrm>
            <a:off x="2859300" y="104250"/>
            <a:ext cx="34254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Pontos Chave: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28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8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8"/>
          <p:cNvSpPr txBox="1">
            <a:spLocks noGrp="1"/>
          </p:cNvSpPr>
          <p:nvPr>
            <p:ph type="ctrTitle"/>
          </p:nvPr>
        </p:nvSpPr>
        <p:spPr>
          <a:xfrm>
            <a:off x="5000250" y="1678825"/>
            <a:ext cx="3660000" cy="152346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74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Definição via </a:t>
            </a:r>
            <a:r>
              <a:rPr lang="pt-BR" sz="1740">
                <a:solidFill>
                  <a:srgbClr val="5296D0"/>
                </a:solidFill>
                <a:latin typeface="Lexend"/>
                <a:ea typeface="Lexend"/>
                <a:cs typeface="Lexend"/>
                <a:sym typeface="Lexend"/>
              </a:rPr>
              <a:t>struct</a:t>
            </a:r>
            <a:r>
              <a:rPr lang="pt-BR" sz="174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dos </a:t>
            </a:r>
            <a:r>
              <a:rPr lang="pt-BR" sz="1740">
                <a:solidFill>
                  <a:srgbClr val="9EC58E"/>
                </a:solidFill>
                <a:latin typeface="Lexend"/>
                <a:ea typeface="Lexend"/>
                <a:cs typeface="Lexend"/>
                <a:sym typeface="Lexend"/>
              </a:rPr>
              <a:t>dados</a:t>
            </a:r>
            <a:r>
              <a:rPr lang="pt-BR" sz="174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que serão utilizados, a partir da definição desses </a:t>
            </a:r>
            <a:r>
              <a:rPr lang="pt-BR" sz="1740">
                <a:solidFill>
                  <a:srgbClr val="9EC58E"/>
                </a:solidFill>
                <a:latin typeface="Lexend"/>
                <a:ea typeface="Lexend"/>
                <a:cs typeface="Lexend"/>
                <a:sym typeface="Lexend"/>
              </a:rPr>
              <a:t>dados,</a:t>
            </a:r>
            <a:r>
              <a:rPr lang="pt-BR" sz="174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teremos toda a estrutura do programa.</a:t>
            </a:r>
            <a:endParaRPr sz="174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" name="Google Shape;131;p28"/>
          <p:cNvPicPr preferRelativeResize="0"/>
          <p:nvPr/>
        </p:nvPicPr>
        <p:blipFill rotWithShape="1">
          <a:blip r:embed="rId3">
            <a:alphaModFix/>
          </a:blip>
          <a:srcRect l="2761" r="32931" b="47292"/>
          <a:stretch/>
        </p:blipFill>
        <p:spPr>
          <a:xfrm>
            <a:off x="591925" y="983774"/>
            <a:ext cx="1977739" cy="3526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8"/>
          <p:cNvPicPr preferRelativeResize="0"/>
          <p:nvPr/>
        </p:nvPicPr>
        <p:blipFill rotWithShape="1">
          <a:blip r:embed="rId3">
            <a:alphaModFix/>
          </a:blip>
          <a:srcRect l="3186" t="51254" r="38346" b="823"/>
          <a:stretch/>
        </p:blipFill>
        <p:spPr>
          <a:xfrm>
            <a:off x="2796087" y="983774"/>
            <a:ext cx="1977739" cy="3526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>
            <a:spLocks noGrp="1"/>
          </p:cNvSpPr>
          <p:nvPr>
            <p:ph type="ctrTitle"/>
          </p:nvPr>
        </p:nvSpPr>
        <p:spPr>
          <a:xfrm>
            <a:off x="2859300" y="104250"/>
            <a:ext cx="34254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Pontos Chave: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29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9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9"/>
          <p:cNvSpPr txBox="1">
            <a:spLocks noGrp="1"/>
          </p:cNvSpPr>
          <p:nvPr>
            <p:ph type="ctrTitle"/>
          </p:nvPr>
        </p:nvSpPr>
        <p:spPr>
          <a:xfrm>
            <a:off x="5000250" y="1678825"/>
            <a:ext cx="3660000" cy="152346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74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Declaração de todas as funções utilizadas no código, todas nomeadas de forma a facilitar a identificação de cada uma delas.</a:t>
            </a:r>
            <a:endParaRPr sz="174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29"/>
          <p:cNvPicPr preferRelativeResize="0"/>
          <p:nvPr/>
        </p:nvPicPr>
        <p:blipFill rotWithShape="1">
          <a:blip r:embed="rId3">
            <a:alphaModFix/>
          </a:blip>
          <a:srcRect b="55137"/>
          <a:stretch/>
        </p:blipFill>
        <p:spPr>
          <a:xfrm>
            <a:off x="483900" y="1806117"/>
            <a:ext cx="1861046" cy="2035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9"/>
          <p:cNvPicPr preferRelativeResize="0"/>
          <p:nvPr/>
        </p:nvPicPr>
        <p:blipFill rotWithShape="1">
          <a:blip r:embed="rId3">
            <a:alphaModFix/>
          </a:blip>
          <a:srcRect l="1668" t="44339" r="546" b="298"/>
          <a:stretch/>
        </p:blipFill>
        <p:spPr>
          <a:xfrm>
            <a:off x="2742075" y="1539416"/>
            <a:ext cx="1861046" cy="256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>
            <a:spLocks noGrp="1"/>
          </p:cNvSpPr>
          <p:nvPr>
            <p:ph type="ctrTitle"/>
          </p:nvPr>
        </p:nvSpPr>
        <p:spPr>
          <a:xfrm>
            <a:off x="2051950" y="178442"/>
            <a:ext cx="50401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Exemplos das funções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36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6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36"/>
          <p:cNvPicPr preferRelativeResize="0"/>
          <p:nvPr/>
        </p:nvPicPr>
        <p:blipFill rotWithShape="1">
          <a:blip r:embed="rId3">
            <a:alphaModFix/>
          </a:blip>
          <a:srcRect b="51628"/>
          <a:stretch/>
        </p:blipFill>
        <p:spPr>
          <a:xfrm>
            <a:off x="483901" y="1011570"/>
            <a:ext cx="3867842" cy="338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/>
          <p:cNvPicPr preferRelativeResize="0"/>
          <p:nvPr/>
        </p:nvPicPr>
        <p:blipFill rotWithShape="1">
          <a:blip r:embed="rId3">
            <a:alphaModFix/>
          </a:blip>
          <a:srcRect l="617" t="51539" r="-616" b="89"/>
          <a:stretch/>
        </p:blipFill>
        <p:spPr>
          <a:xfrm>
            <a:off x="4600926" y="1011569"/>
            <a:ext cx="3868953" cy="338224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6"/>
          <p:cNvSpPr txBox="1"/>
          <p:nvPr/>
        </p:nvSpPr>
        <p:spPr>
          <a:xfrm>
            <a:off x="4011347" y="4599900"/>
            <a:ext cx="14141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CREDENCIAIS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>
            <a:spLocks noGrp="1"/>
          </p:cNvSpPr>
          <p:nvPr>
            <p:ph type="ctrTitle"/>
          </p:nvPr>
        </p:nvSpPr>
        <p:spPr>
          <a:xfrm>
            <a:off x="2480200" y="141805"/>
            <a:ext cx="50401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Exemplos das funções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30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0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30"/>
          <p:cNvPicPr preferRelativeResize="0"/>
          <p:nvPr/>
        </p:nvPicPr>
        <p:blipFill rotWithShape="1">
          <a:blip r:embed="rId3">
            <a:alphaModFix/>
          </a:blip>
          <a:srcRect r="15905" b="51517"/>
          <a:stretch/>
        </p:blipFill>
        <p:spPr>
          <a:xfrm>
            <a:off x="127577" y="1245176"/>
            <a:ext cx="4411052" cy="2440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0"/>
          <p:cNvPicPr preferRelativeResize="0"/>
          <p:nvPr/>
        </p:nvPicPr>
        <p:blipFill rotWithShape="1">
          <a:blip r:embed="rId3">
            <a:alphaModFix/>
          </a:blip>
          <a:srcRect l="2673" t="49459" r="13232" b="2058"/>
          <a:stretch/>
        </p:blipFill>
        <p:spPr>
          <a:xfrm>
            <a:off x="4605373" y="1245175"/>
            <a:ext cx="4411052" cy="2440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>
            <a:spLocks noGrp="1"/>
          </p:cNvSpPr>
          <p:nvPr>
            <p:ph type="ctrTitle"/>
          </p:nvPr>
        </p:nvSpPr>
        <p:spPr>
          <a:xfrm>
            <a:off x="2480200" y="141805"/>
            <a:ext cx="50401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Exemplos das funções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31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225" y="1080783"/>
            <a:ext cx="3973800" cy="3519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5833" y="1475824"/>
            <a:ext cx="4233449" cy="257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>
            <a:spLocks noGrp="1"/>
          </p:cNvSpPr>
          <p:nvPr>
            <p:ph type="ctrTitle"/>
          </p:nvPr>
        </p:nvSpPr>
        <p:spPr>
          <a:xfrm>
            <a:off x="2480200" y="141805"/>
            <a:ext cx="50401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Exemplos das funções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6900" y="871405"/>
            <a:ext cx="4082525" cy="4089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>
            <a:spLocks noGrp="1"/>
          </p:cNvSpPr>
          <p:nvPr>
            <p:ph type="ctrTitle"/>
          </p:nvPr>
        </p:nvSpPr>
        <p:spPr>
          <a:xfrm>
            <a:off x="2480200" y="141805"/>
            <a:ext cx="50401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Exemplos das funções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33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3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33"/>
          <p:cNvPicPr preferRelativeResize="0"/>
          <p:nvPr/>
        </p:nvPicPr>
        <p:blipFill rotWithShape="1">
          <a:blip r:embed="rId3">
            <a:alphaModFix/>
          </a:blip>
          <a:srcRect b="43633"/>
          <a:stretch/>
        </p:blipFill>
        <p:spPr>
          <a:xfrm>
            <a:off x="241950" y="1058915"/>
            <a:ext cx="4794869" cy="354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3"/>
          <p:cNvPicPr preferRelativeResize="0"/>
          <p:nvPr/>
        </p:nvPicPr>
        <p:blipFill rotWithShape="1">
          <a:blip r:embed="rId3">
            <a:alphaModFix/>
          </a:blip>
          <a:srcRect l="953" t="43061" r="-952" b="572"/>
          <a:stretch/>
        </p:blipFill>
        <p:spPr>
          <a:xfrm>
            <a:off x="5103511" y="1385299"/>
            <a:ext cx="3910950" cy="2888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>
            <a:spLocks noGrp="1"/>
          </p:cNvSpPr>
          <p:nvPr>
            <p:ph type="ctrTitle"/>
          </p:nvPr>
        </p:nvSpPr>
        <p:spPr>
          <a:xfrm>
            <a:off x="2480200" y="141805"/>
            <a:ext cx="50401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Exemplos das funções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34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4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34"/>
          <p:cNvPicPr preferRelativeResize="0"/>
          <p:nvPr/>
        </p:nvPicPr>
        <p:blipFill rotWithShape="1">
          <a:blip r:embed="rId3">
            <a:alphaModFix/>
          </a:blip>
          <a:srcRect b="65948"/>
          <a:stretch/>
        </p:blipFill>
        <p:spPr>
          <a:xfrm>
            <a:off x="1800250" y="871405"/>
            <a:ext cx="5720050" cy="1872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4"/>
          <p:cNvPicPr preferRelativeResize="0"/>
          <p:nvPr/>
        </p:nvPicPr>
        <p:blipFill rotWithShape="1">
          <a:blip r:embed="rId3">
            <a:alphaModFix/>
          </a:blip>
          <a:srcRect l="-111" t="34767" r="110" b="31181"/>
          <a:stretch/>
        </p:blipFill>
        <p:spPr>
          <a:xfrm>
            <a:off x="1800250" y="2827205"/>
            <a:ext cx="5720050" cy="187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>
            <a:spLocks noGrp="1"/>
          </p:cNvSpPr>
          <p:nvPr>
            <p:ph type="ctrTitle"/>
          </p:nvPr>
        </p:nvSpPr>
        <p:spPr>
          <a:xfrm>
            <a:off x="2480200" y="141805"/>
            <a:ext cx="50401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Exemplos das funções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35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5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35"/>
          <p:cNvPicPr preferRelativeResize="0"/>
          <p:nvPr/>
        </p:nvPicPr>
        <p:blipFill rotWithShape="1">
          <a:blip r:embed="rId3">
            <a:alphaModFix/>
          </a:blip>
          <a:srcRect l="-111" t="65607" r="110" b="340"/>
          <a:stretch/>
        </p:blipFill>
        <p:spPr>
          <a:xfrm>
            <a:off x="1774850" y="1684205"/>
            <a:ext cx="6029300" cy="197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>
            <a:spLocks noGrp="1"/>
          </p:cNvSpPr>
          <p:nvPr>
            <p:ph type="ctrTitle"/>
          </p:nvPr>
        </p:nvSpPr>
        <p:spPr>
          <a:xfrm>
            <a:off x="2480200" y="141805"/>
            <a:ext cx="50401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Exemplos das funções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37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7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37"/>
          <p:cNvPicPr preferRelativeResize="0"/>
          <p:nvPr/>
        </p:nvPicPr>
        <p:blipFill rotWithShape="1">
          <a:blip r:embed="rId3">
            <a:alphaModFix/>
          </a:blip>
          <a:srcRect b="64778"/>
          <a:stretch/>
        </p:blipFill>
        <p:spPr>
          <a:xfrm>
            <a:off x="1794400" y="871405"/>
            <a:ext cx="6099920" cy="1974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7"/>
          <p:cNvPicPr preferRelativeResize="0"/>
          <p:nvPr/>
        </p:nvPicPr>
        <p:blipFill rotWithShape="1">
          <a:blip r:embed="rId3">
            <a:alphaModFix/>
          </a:blip>
          <a:srcRect l="625" t="32221" r="-625" b="32557"/>
          <a:stretch/>
        </p:blipFill>
        <p:spPr>
          <a:xfrm>
            <a:off x="1794400" y="2897552"/>
            <a:ext cx="6099920" cy="1974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>
            <a:spLocks noGrp="1"/>
          </p:cNvSpPr>
          <p:nvPr>
            <p:ph type="ctrTitle"/>
          </p:nvPr>
        </p:nvSpPr>
        <p:spPr>
          <a:xfrm>
            <a:off x="2480200" y="141805"/>
            <a:ext cx="50401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Exemplos das funções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38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8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8"/>
          <p:cNvPicPr preferRelativeResize="0"/>
          <p:nvPr/>
        </p:nvPicPr>
        <p:blipFill rotWithShape="1">
          <a:blip r:embed="rId3">
            <a:alphaModFix/>
          </a:blip>
          <a:srcRect b="47787"/>
          <a:stretch/>
        </p:blipFill>
        <p:spPr>
          <a:xfrm>
            <a:off x="483900" y="1106928"/>
            <a:ext cx="4050225" cy="338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8"/>
          <p:cNvPicPr preferRelativeResize="0"/>
          <p:nvPr/>
        </p:nvPicPr>
        <p:blipFill rotWithShape="1">
          <a:blip r:embed="rId3">
            <a:alphaModFix/>
          </a:blip>
          <a:srcRect t="48165" b="-378"/>
          <a:stretch/>
        </p:blipFill>
        <p:spPr>
          <a:xfrm>
            <a:off x="4662159" y="1106928"/>
            <a:ext cx="4074699" cy="3404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>
            <a:spLocks noGrp="1"/>
          </p:cNvSpPr>
          <p:nvPr>
            <p:ph type="ctrTitle"/>
          </p:nvPr>
        </p:nvSpPr>
        <p:spPr>
          <a:xfrm>
            <a:off x="2480200" y="141805"/>
            <a:ext cx="50401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Menus: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39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9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621" y="1049205"/>
            <a:ext cx="3373857" cy="366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32512" y="871405"/>
            <a:ext cx="3827588" cy="4086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2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>
            <a:spLocks noGrp="1"/>
          </p:cNvSpPr>
          <p:nvPr>
            <p:ph type="ctrTitle"/>
          </p:nvPr>
        </p:nvSpPr>
        <p:spPr>
          <a:xfrm>
            <a:off x="2480200" y="141805"/>
            <a:ext cx="50401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rPr lang="pt-BR" sz="3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Menus:</a:t>
            </a:r>
            <a:endParaRPr sz="3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40"/>
          <p:cNvSpPr/>
          <p:nvPr/>
        </p:nvSpPr>
        <p:spPr>
          <a:xfrm>
            <a:off x="0" y="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0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4822" y="871405"/>
            <a:ext cx="4092978" cy="4153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35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>
            <a:spLocks noGrp="1"/>
          </p:cNvSpPr>
          <p:nvPr>
            <p:ph type="ctrTitle"/>
          </p:nvPr>
        </p:nvSpPr>
        <p:spPr>
          <a:xfrm>
            <a:off x="665851" y="1124325"/>
            <a:ext cx="7812300" cy="19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4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Conclusões Gerais e Aprendizado</a:t>
            </a:r>
            <a:endParaRPr sz="4400">
              <a:solidFill>
                <a:srgbClr val="1E1F35"/>
              </a:solidFill>
              <a:highlight>
                <a:srgbClr val="2D353D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5" name="Google Shape;245;p41"/>
          <p:cNvSpPr/>
          <p:nvPr/>
        </p:nvSpPr>
        <p:spPr>
          <a:xfrm rot="10800000">
            <a:off x="8660100" y="4599900"/>
            <a:ext cx="483900" cy="543600"/>
          </a:xfrm>
          <a:prstGeom prst="diagStripe">
            <a:avLst>
              <a:gd name="adj" fmla="val 50000"/>
            </a:avLst>
          </a:prstGeom>
          <a:solidFill>
            <a:srgbClr val="CC0000"/>
          </a:solidFill>
          <a:ln w="9525" cap="flat" cmpd="sng">
            <a:solidFill>
              <a:srgbClr val="323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12206"/>
            <a:ext cx="2561251" cy="2298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1"/>
          <p:cNvPicPr preferRelativeResize="0"/>
          <p:nvPr/>
        </p:nvPicPr>
        <p:blipFill rotWithShape="1">
          <a:blip r:embed="rId4">
            <a:alphaModFix/>
          </a:blip>
          <a:srcRect r="30526"/>
          <a:stretch/>
        </p:blipFill>
        <p:spPr>
          <a:xfrm>
            <a:off x="7779525" y="59575"/>
            <a:ext cx="1364475" cy="74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Apresentação na tela (16:9)</PresentationFormat>
  <Paragraphs>25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Comfortaa</vt:lpstr>
      <vt:lpstr>Arial</vt:lpstr>
      <vt:lpstr>Merriweather</vt:lpstr>
      <vt:lpstr>Lexend</vt:lpstr>
      <vt:lpstr>Simple Light</vt:lpstr>
      <vt:lpstr>Simple Light</vt:lpstr>
      <vt:lpstr>TDE II - Linguagem de programação</vt:lpstr>
      <vt:lpstr>Desafio</vt:lpstr>
      <vt:lpstr>Pontos Chave:</vt:lpstr>
      <vt:lpstr>Pontos Chave:</vt:lpstr>
      <vt:lpstr>Pontos Chave:</vt:lpstr>
      <vt:lpstr>Exemplos das funções</vt:lpstr>
      <vt:lpstr>Exemplos das funções</vt:lpstr>
      <vt:lpstr>Exemplos das funções</vt:lpstr>
      <vt:lpstr>Exemplos das funções</vt:lpstr>
      <vt:lpstr>Exemplos das funções</vt:lpstr>
      <vt:lpstr>Exemplos das funções</vt:lpstr>
      <vt:lpstr>Exemplos das funções</vt:lpstr>
      <vt:lpstr>Exemplos das funções</vt:lpstr>
      <vt:lpstr>Exemplos das funções</vt:lpstr>
      <vt:lpstr>Menus:</vt:lpstr>
      <vt:lpstr>Menus:</vt:lpstr>
      <vt:lpstr>Conclusões Gerais e Aprendizado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</cp:lastModifiedBy>
  <cp:revision>1</cp:revision>
  <dcterms:modified xsi:type="dcterms:W3CDTF">2025-11-13T23:21:29Z</dcterms:modified>
</cp:coreProperties>
</file>